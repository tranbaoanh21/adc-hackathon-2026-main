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6858000" cy="9144000"/>
  <p:embeddedFontLst>
    <p:embeddedFont>
      <p:font typeface="Aptos Bold" panose="020B0004020202020204" pitchFamily="34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1EF3E-771A-D580-C6E6-1F714BE26661}" v="25" dt="2026-09-17T07:42:31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4.xml" Id="rId8" /><Relationship Type="http://schemas.openxmlformats.org/officeDocument/2006/relationships/font" Target="fonts/font1.fntdata" Id="rId13" /><Relationship Type="http://schemas.openxmlformats.org/officeDocument/2006/relationships/tableStyles" Target="tableStyles.xml" Id="rId18" /><Relationship Type="http://schemas.openxmlformats.org/officeDocument/2006/relationships/customXml" Target="../customXml/item3.xml" Id="rId3" /><Relationship Type="http://schemas.openxmlformats.org/officeDocument/2006/relationships/slide" Target="slides/slide3.xml" Id="rId7" /><Relationship Type="http://schemas.openxmlformats.org/officeDocument/2006/relationships/slide" Target="slides/slide8.xml" Id="rId12" /><Relationship Type="http://schemas.openxmlformats.org/officeDocument/2006/relationships/theme" Target="theme/theme1.xml" Id="rId17" /><Relationship Type="http://schemas.openxmlformats.org/officeDocument/2006/relationships/customXml" Target="../customXml/item2.xml" Id="rId2" /><Relationship Type="http://schemas.openxmlformats.org/officeDocument/2006/relationships/viewProps" Target="viewProps.xml" Id="rId16" /><Relationship Type="http://schemas.microsoft.com/office/2015/10/relationships/revisionInfo" Target="revisionInfo.xml" Id="rId20" /><Relationship Type="http://schemas.openxmlformats.org/officeDocument/2006/relationships/customXml" Target="../customXml/item1.xml" Id="rId1" /><Relationship Type="http://schemas.openxmlformats.org/officeDocument/2006/relationships/slide" Target="slides/slide2.xml" Id="rId6" /><Relationship Type="http://schemas.openxmlformats.org/officeDocument/2006/relationships/slide" Target="slides/slide7.xml" Id="rId11" /><Relationship Type="http://schemas.openxmlformats.org/officeDocument/2006/relationships/slide" Target="slides/slide1.xml" Id="rId5" /><Relationship Type="http://schemas.openxmlformats.org/officeDocument/2006/relationships/presProps" Target="presProps.xml" Id="rId15" /><Relationship Type="http://schemas.openxmlformats.org/officeDocument/2006/relationships/slide" Target="slides/slide6.xml" Id="rId10" /><Relationship Type="http://schemas.openxmlformats.org/officeDocument/2006/relationships/slideMaster" Target="slideMasters/slideMaster1.xml" Id="rId4" /><Relationship Type="http://schemas.openxmlformats.org/officeDocument/2006/relationships/slide" Target="slides/slide5.xml" Id="rId9" /><Relationship Type="http://schemas.openxmlformats.org/officeDocument/2006/relationships/font" Target="fonts/font2.fntdata" Id="rId14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rmit.edu.vn/r/adc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7711" y="1393965"/>
            <a:ext cx="7905026" cy="2351151"/>
            <a:chOff x="0" y="0"/>
            <a:chExt cx="10540035" cy="31348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40032" cy="3134864"/>
            </a:xfrm>
            <a:custGeom>
              <a:avLst/>
              <a:gdLst/>
              <a:ahLst/>
              <a:cxnLst/>
              <a:rect l="l" t="t" r="r" b="b"/>
              <a:pathLst>
                <a:path w="10540032" h="3134864">
                  <a:moveTo>
                    <a:pt x="0" y="0"/>
                  </a:moveTo>
                  <a:lnTo>
                    <a:pt x="10540032" y="0"/>
                  </a:lnTo>
                  <a:lnTo>
                    <a:pt x="10540032" y="3134864"/>
                  </a:lnTo>
                  <a:lnTo>
                    <a:pt x="0" y="3134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512" b="-1551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104775"/>
              <a:ext cx="10540035" cy="30300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720"/>
                </a:lnSpc>
              </a:pPr>
              <a:r>
                <a:rPr lang="en-US" sz="9000" b="1">
                  <a:solidFill>
                    <a:srgbClr val="E8E8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TITLE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07583" y="3806885"/>
            <a:ext cx="11343103" cy="289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650" lvl="1" indent="-250825" algn="l">
              <a:lnSpc>
                <a:spcPts val="3196"/>
              </a:lnSpc>
              <a:buFont typeface="Arial"/>
              <a:buChar char="•"/>
            </a:pPr>
            <a:r>
              <a:rPr lang="en-US" sz="2750" b="1" dirty="0">
                <a:solidFill>
                  <a:srgbClr val="E8E8E8"/>
                </a:solidFill>
                <a:latin typeface="Aptos Bold"/>
                <a:ea typeface="Aptos Bold"/>
                <a:cs typeface="Aptos Bold"/>
                <a:sym typeface="Aptos Bold"/>
              </a:rPr>
              <a:t>Team name:</a:t>
            </a:r>
            <a:endParaRPr lang="en-US" sz="2750" dirty="0"/>
          </a:p>
          <a:p>
            <a:pPr marL="501650" lvl="1" indent="-250825">
              <a:lnSpc>
                <a:spcPts val="3196"/>
              </a:lnSpc>
              <a:buFont typeface="Arial"/>
              <a:buChar char="•"/>
            </a:pPr>
            <a:r>
              <a:rPr lang="en-US" sz="2750" b="1" dirty="0">
                <a:solidFill>
                  <a:srgbClr val="E8E8E8"/>
                </a:solidFill>
                <a:latin typeface="Aptos Bold"/>
                <a:ea typeface="Aptos Bold"/>
                <a:cs typeface="Aptos Bold"/>
                <a:sym typeface="Aptos Bold"/>
              </a:rPr>
              <a:t>Focus area:</a:t>
            </a:r>
            <a:endParaRPr lang="en-US" sz="2750" b="1" dirty="0">
              <a:solidFill>
                <a:srgbClr val="E8E8E8"/>
              </a:solidFill>
              <a:latin typeface="Aptos Bold"/>
              <a:ea typeface="Aptos Bold"/>
              <a:cs typeface="Aptos Bold"/>
            </a:endParaRPr>
          </a:p>
          <a:p>
            <a:pPr marL="501650" lvl="1" indent="-250825">
              <a:lnSpc>
                <a:spcPts val="3196"/>
              </a:lnSpc>
              <a:buFont typeface="Arial"/>
              <a:buChar char="•"/>
            </a:pPr>
            <a:r>
              <a:rPr lang="en-US" sz="2750" b="1" dirty="0">
                <a:solidFill>
                  <a:srgbClr val="E8E8E8"/>
                </a:solidFill>
                <a:latin typeface="Aptos Bold"/>
                <a:ea typeface="Aptos Bold"/>
                <a:cs typeface="Aptos Bold"/>
                <a:sym typeface="Aptos Bold"/>
              </a:rPr>
              <a:t>Solution category (tick to select):</a:t>
            </a:r>
            <a:r>
              <a:rPr lang="en-US" sz="2750" dirty="0">
                <a:solidFill>
                  <a:srgbClr val="E8E8E8"/>
                </a:solidFill>
                <a:latin typeface="Aptos"/>
                <a:ea typeface="Aptos"/>
                <a:cs typeface="Aptos"/>
                <a:sym typeface="Aptos"/>
              </a:rPr>
              <a:t> </a:t>
            </a:r>
            <a:endParaRPr lang="en-US" sz="2750" dirty="0">
              <a:solidFill>
                <a:srgbClr val="E8E8E8"/>
              </a:solidFill>
              <a:latin typeface="Aptos"/>
              <a:ea typeface="Aptos"/>
              <a:cs typeface="Aptos"/>
            </a:endParaRPr>
          </a:p>
          <a:p>
            <a:pPr marL="1087120" lvl="2" indent="-361950" algn="l">
              <a:lnSpc>
                <a:spcPts val="2557"/>
              </a:lnSpc>
              <a:buFont typeface="Arial"/>
              <a:buChar char="⚬"/>
            </a:pPr>
            <a:r>
              <a:rPr lang="en-US" sz="2200" dirty="0">
                <a:solidFill>
                  <a:srgbClr val="E8E8E8"/>
                </a:solidFill>
                <a:latin typeface="Aptos"/>
                <a:ea typeface="Aptos"/>
                <a:cs typeface="Aptos"/>
                <a:sym typeface="Aptos"/>
              </a:rPr>
              <a:t>Attitudinal &amp; Communication Solutions</a:t>
            </a:r>
            <a:endParaRPr lang="en-US" sz="2200" dirty="0">
              <a:solidFill>
                <a:srgbClr val="E8E8E8"/>
              </a:solidFill>
              <a:latin typeface="Aptos"/>
              <a:ea typeface="Aptos"/>
              <a:cs typeface="Aptos"/>
            </a:endParaRPr>
          </a:p>
          <a:p>
            <a:pPr marL="1087120" lvl="2" indent="-361950" algn="l">
              <a:lnSpc>
                <a:spcPts val="2557"/>
              </a:lnSpc>
              <a:buFont typeface="Arial"/>
              <a:buChar char="⚬"/>
            </a:pPr>
            <a:r>
              <a:rPr lang="en-US" sz="2200" dirty="0">
                <a:solidFill>
                  <a:srgbClr val="E8E8E8"/>
                </a:solidFill>
                <a:latin typeface="Aptos"/>
                <a:ea typeface="Aptos"/>
                <a:cs typeface="Aptos"/>
                <a:sym typeface="Aptos"/>
              </a:rPr>
              <a:t>Architectural &amp; Industrial Solutions</a:t>
            </a:r>
            <a:endParaRPr lang="en-US" sz="2200" dirty="0">
              <a:solidFill>
                <a:srgbClr val="E8E8E8"/>
              </a:solidFill>
              <a:latin typeface="Aptos"/>
              <a:ea typeface="Aptos"/>
              <a:cs typeface="Aptos"/>
            </a:endParaRPr>
          </a:p>
          <a:p>
            <a:pPr marL="1087120" lvl="2" indent="-361950" algn="l">
              <a:lnSpc>
                <a:spcPts val="2557"/>
              </a:lnSpc>
              <a:buFont typeface="Arial"/>
              <a:buChar char="⚬"/>
            </a:pPr>
            <a:r>
              <a:rPr lang="en-US" sz="2200" dirty="0">
                <a:solidFill>
                  <a:srgbClr val="E8E8E8"/>
                </a:solidFill>
                <a:latin typeface="Aptos"/>
                <a:ea typeface="Aptos"/>
                <a:cs typeface="Aptos"/>
                <a:sym typeface="Aptos"/>
              </a:rPr>
              <a:t> Technological Solutions</a:t>
            </a:r>
            <a:endParaRPr lang="en-US" sz="2200" dirty="0">
              <a:solidFill>
                <a:srgbClr val="E8E8E8"/>
              </a:solidFill>
              <a:latin typeface="Aptos"/>
              <a:ea typeface="Aptos"/>
              <a:cs typeface="Aptos"/>
            </a:endParaRPr>
          </a:p>
          <a:p>
            <a:pPr marL="1087565" lvl="2" indent="-362522" algn="l">
              <a:lnSpc>
                <a:spcPts val="2557"/>
              </a:lnSpc>
            </a:pPr>
            <a:endParaRPr lang="en-US" sz="2220">
              <a:solidFill>
                <a:srgbClr val="E8E8E8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087565" lvl="2" indent="-362522" algn="l">
              <a:lnSpc>
                <a:spcPts val="2557"/>
              </a:lnSpc>
            </a:pPr>
            <a:endParaRPr lang="en-US" sz="2220">
              <a:solidFill>
                <a:srgbClr val="E8E8E8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103465" y="2415330"/>
            <a:ext cx="5713857" cy="5898232"/>
            <a:chOff x="0" y="0"/>
            <a:chExt cx="7618476" cy="78643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18476" cy="7864348"/>
            </a:xfrm>
            <a:custGeom>
              <a:avLst/>
              <a:gdLst/>
              <a:ahLst/>
              <a:cxnLst/>
              <a:rect l="l" t="t" r="r" b="b"/>
              <a:pathLst>
                <a:path w="7618476" h="7864348">
                  <a:moveTo>
                    <a:pt x="0" y="0"/>
                  </a:moveTo>
                  <a:lnTo>
                    <a:pt x="7618476" y="0"/>
                  </a:lnTo>
                  <a:lnTo>
                    <a:pt x="7618476" y="7864348"/>
                  </a:lnTo>
                  <a:lnTo>
                    <a:pt x="0" y="786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53" b="-45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722473" y="7198128"/>
            <a:ext cx="1980476" cy="3097597"/>
            <a:chOff x="0" y="0"/>
            <a:chExt cx="2640635" cy="41301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40584" cy="4130167"/>
            </a:xfrm>
            <a:custGeom>
              <a:avLst/>
              <a:gdLst/>
              <a:ahLst/>
              <a:cxnLst/>
              <a:rect l="l" t="t" r="r" b="b"/>
              <a:pathLst>
                <a:path w="2640584" h="4130167">
                  <a:moveTo>
                    <a:pt x="0" y="0"/>
                  </a:moveTo>
                  <a:lnTo>
                    <a:pt x="2640584" y="0"/>
                  </a:lnTo>
                  <a:lnTo>
                    <a:pt x="2640584" y="4130167"/>
                  </a:lnTo>
                  <a:lnTo>
                    <a:pt x="0" y="4130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463" r="-346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6435334" y="434246"/>
            <a:ext cx="1381988" cy="800450"/>
          </a:xfrm>
          <a:custGeom>
            <a:avLst/>
            <a:gdLst/>
            <a:ahLst/>
            <a:cxnLst/>
            <a:rect l="l" t="t" r="r" b="b"/>
            <a:pathLst>
              <a:path w="1381988" h="800450">
                <a:moveTo>
                  <a:pt x="0" y="0"/>
                </a:moveTo>
                <a:lnTo>
                  <a:pt x="1381988" y="0"/>
                </a:lnTo>
                <a:lnTo>
                  <a:pt x="1381988" y="800450"/>
                </a:lnTo>
                <a:lnTo>
                  <a:pt x="0" y="800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6680" y="1868214"/>
            <a:ext cx="4315063" cy="1147629"/>
            <a:chOff x="0" y="0"/>
            <a:chExt cx="5753418" cy="15301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3416" cy="1530168"/>
            </a:xfrm>
            <a:custGeom>
              <a:avLst/>
              <a:gdLst/>
              <a:ahLst/>
              <a:cxnLst/>
              <a:rect l="l" t="t" r="r" b="b"/>
              <a:pathLst>
                <a:path w="5753416" h="1530168">
                  <a:moveTo>
                    <a:pt x="0" y="0"/>
                  </a:moveTo>
                  <a:lnTo>
                    <a:pt x="5753416" y="0"/>
                  </a:lnTo>
                  <a:lnTo>
                    <a:pt x="5753416" y="1530168"/>
                  </a:lnTo>
                  <a:lnTo>
                    <a:pt x="0" y="1530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263" b="-2326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5753418" cy="14634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Instruction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634664" y="8081153"/>
            <a:ext cx="13353793" cy="165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Map your inputs to the judging criteria (refer to ADC Hackathon official website </a:t>
            </a:r>
            <a:r>
              <a:rPr lang="en-US" sz="3000" u="sng">
                <a:solidFill>
                  <a:srgbClr val="467886"/>
                </a:solidFill>
                <a:latin typeface="Aptos"/>
                <a:ea typeface="Aptos"/>
                <a:cs typeface="Aptos"/>
                <a:sym typeface="Aptos"/>
                <a:hlinkClick r:id="rId3" tooltip="https://apps.rmit.edu.vn/r/adc"/>
              </a:rPr>
              <a:t>https://apps.rmit.edu.vn/r/adc</a:t>
            </a: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) </a:t>
            </a:r>
          </a:p>
          <a:p>
            <a:pPr marL="542925" lvl="1" indent="-271462" algn="l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Clear visuals (screenshot, mockup, or diagram) is worth more than extra text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90134" y="7390086"/>
            <a:ext cx="2183663" cy="2896914"/>
            <a:chOff x="0" y="0"/>
            <a:chExt cx="2911551" cy="38625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11602" cy="3862578"/>
            </a:xfrm>
            <a:custGeom>
              <a:avLst/>
              <a:gdLst/>
              <a:ahLst/>
              <a:cxnLst/>
              <a:rect l="l" t="t" r="r" b="b"/>
              <a:pathLst>
                <a:path w="2911602" h="3862578">
                  <a:moveTo>
                    <a:pt x="0" y="0"/>
                  </a:moveTo>
                  <a:lnTo>
                    <a:pt x="2911602" y="0"/>
                  </a:lnTo>
                  <a:lnTo>
                    <a:pt x="2911602" y="3862578"/>
                  </a:lnTo>
                  <a:lnTo>
                    <a:pt x="0" y="3862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9" r="1" b="-148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rot="6300">
            <a:off x="997439" y="1399461"/>
            <a:ext cx="16291484" cy="0"/>
          </a:xfrm>
          <a:prstGeom prst="line">
            <a:avLst/>
          </a:prstGeom>
          <a:ln w="19050" cap="rnd">
            <a:solidFill>
              <a:srgbClr val="D91C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212761" y="3484083"/>
            <a:ext cx="15817148" cy="350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Replace the grey placeholder text with your own content.</a:t>
            </a:r>
          </a:p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Keep the header unchanged.</a:t>
            </a:r>
          </a:p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Use readable text with strong colour contrast.</a:t>
            </a:r>
          </a:p>
          <a:p>
            <a:pPr marL="651510" lvl="1" indent="-325755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Keep the existing slide sequence and do not add extra slides (TRONG PHAN CHINH), ADD SLIDE APPENDIX TU SLIDE O 7</a:t>
            </a:r>
          </a:p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Include any additional details in the appendix.</a:t>
            </a:r>
          </a:p>
          <a:p>
            <a:pPr marL="651510" lvl="1" indent="-325755"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3101378" y="7000361"/>
            <a:ext cx="1339406" cy="784974"/>
            <a:chOff x="0" y="0"/>
            <a:chExt cx="1785874" cy="10466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85874" cy="1046607"/>
            </a:xfrm>
            <a:custGeom>
              <a:avLst/>
              <a:gdLst/>
              <a:ahLst/>
              <a:cxnLst/>
              <a:rect l="l" t="t" r="r" b="b"/>
              <a:pathLst>
                <a:path w="1785874" h="1046607">
                  <a:moveTo>
                    <a:pt x="0" y="0"/>
                  </a:moveTo>
                  <a:lnTo>
                    <a:pt x="1785874" y="0"/>
                  </a:lnTo>
                  <a:lnTo>
                    <a:pt x="1785874" y="1046607"/>
                  </a:lnTo>
                  <a:lnTo>
                    <a:pt x="0" y="1046607"/>
                  </a:lnTo>
                  <a:close/>
                </a:path>
              </a:pathLst>
            </a:custGeom>
            <a:solidFill>
              <a:srgbClr val="14DAA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47625"/>
              <a:ext cx="1785874" cy="999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88"/>
                </a:lnSpc>
              </a:pPr>
              <a:r>
                <a:rPr lang="en-US" sz="36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Tips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38289" y="1766383"/>
            <a:ext cx="4316949" cy="1154163"/>
            <a:chOff x="0" y="0"/>
            <a:chExt cx="5755932" cy="15388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55894" cy="1538859"/>
            </a:xfrm>
            <a:custGeom>
              <a:avLst/>
              <a:gdLst/>
              <a:ahLst/>
              <a:cxnLst/>
              <a:rect l="l" t="t" r="r" b="b"/>
              <a:pathLst>
                <a:path w="5755894" h="1538859">
                  <a:moveTo>
                    <a:pt x="0" y="0"/>
                  </a:moveTo>
                  <a:lnTo>
                    <a:pt x="5755894" y="0"/>
                  </a:lnTo>
                  <a:lnTo>
                    <a:pt x="5755894" y="1538859"/>
                  </a:lnTo>
                  <a:lnTo>
                    <a:pt x="0" y="1538859"/>
                  </a:lnTo>
                  <a:close/>
                </a:path>
              </a:pathLst>
            </a:custGeom>
            <a:solidFill>
              <a:srgbClr val="E61E2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755932" cy="1548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(Must-read)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6297462" y="399672"/>
            <a:ext cx="1381988" cy="795437"/>
          </a:xfrm>
          <a:custGeom>
            <a:avLst/>
            <a:gdLst/>
            <a:ahLst/>
            <a:cxnLst/>
            <a:rect l="l" t="t" r="r" b="b"/>
            <a:pathLst>
              <a:path w="1381988" h="795437">
                <a:moveTo>
                  <a:pt x="0" y="0"/>
                </a:moveTo>
                <a:lnTo>
                  <a:pt x="1381989" y="0"/>
                </a:lnTo>
                <a:lnTo>
                  <a:pt x="1381989" y="795437"/>
                </a:lnTo>
                <a:lnTo>
                  <a:pt x="0" y="795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0813" y="1690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 statement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12253" y="3974783"/>
            <a:ext cx="15590520" cy="638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D1D1D1"/>
                </a:solidFill>
                <a:latin typeface="Aptos"/>
                <a:ea typeface="Aptos"/>
                <a:cs typeface="Aptos"/>
                <a:sym typeface="Aptos"/>
              </a:rPr>
              <a:t>The accessibility or employability challenge you are addressing, who it affects, and the relevant insights drawn from the Competition Brief</a:t>
            </a:r>
          </a:p>
        </p:txBody>
      </p:sp>
      <p:sp>
        <p:nvSpPr>
          <p:cNvPr id="6" name="AutoShape 6"/>
          <p:cNvSpPr/>
          <p:nvPr/>
        </p:nvSpPr>
        <p:spPr>
          <a:xfrm rot="6300">
            <a:off x="997439" y="1399461"/>
            <a:ext cx="16291484" cy="0"/>
          </a:xfrm>
          <a:prstGeom prst="line">
            <a:avLst/>
          </a:prstGeom>
          <a:ln w="19050" cap="rnd">
            <a:solidFill>
              <a:srgbClr val="D91C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6297462" y="399672"/>
            <a:ext cx="1381988" cy="795437"/>
          </a:xfrm>
          <a:custGeom>
            <a:avLst/>
            <a:gdLst/>
            <a:ahLst/>
            <a:cxnLst/>
            <a:rect l="l" t="t" r="r" b="b"/>
            <a:pathLst>
              <a:path w="1381988" h="795437">
                <a:moveTo>
                  <a:pt x="0" y="0"/>
                </a:moveTo>
                <a:lnTo>
                  <a:pt x="1381989" y="0"/>
                </a:lnTo>
                <a:lnTo>
                  <a:pt x="1381989" y="795437"/>
                </a:lnTo>
                <a:lnTo>
                  <a:pt x="0" y="795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9201" y="1681467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Solution overview 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0641" y="3965562"/>
            <a:ext cx="15590520" cy="638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D1D1D1"/>
                </a:solidFill>
                <a:latin typeface="Aptos"/>
                <a:ea typeface="Aptos"/>
                <a:cs typeface="Aptos"/>
                <a:sym typeface="Aptos"/>
              </a:rPr>
              <a:t>What you built and how it works</a:t>
            </a:r>
          </a:p>
        </p:txBody>
      </p:sp>
      <p:sp>
        <p:nvSpPr>
          <p:cNvPr id="6" name="AutoShape 6"/>
          <p:cNvSpPr/>
          <p:nvPr/>
        </p:nvSpPr>
        <p:spPr>
          <a:xfrm rot="6300">
            <a:off x="997439" y="1399461"/>
            <a:ext cx="16291484" cy="0"/>
          </a:xfrm>
          <a:prstGeom prst="line">
            <a:avLst/>
          </a:prstGeom>
          <a:ln w="19050" cap="rnd">
            <a:solidFill>
              <a:srgbClr val="D91C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6297462" y="399672"/>
            <a:ext cx="1381988" cy="795437"/>
          </a:xfrm>
          <a:custGeom>
            <a:avLst/>
            <a:gdLst/>
            <a:ahLst/>
            <a:cxnLst/>
            <a:rect l="l" t="t" r="r" b="b"/>
            <a:pathLst>
              <a:path w="1381988" h="795437">
                <a:moveTo>
                  <a:pt x="0" y="0"/>
                </a:moveTo>
                <a:lnTo>
                  <a:pt x="1381989" y="0"/>
                </a:lnTo>
                <a:lnTo>
                  <a:pt x="1381989" y="795437"/>
                </a:lnTo>
                <a:lnTo>
                  <a:pt x="0" y="795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0813" y="1631566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Prototype (1)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12253" y="3915661"/>
            <a:ext cx="15590520" cy="638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D1D1D1"/>
                </a:solidFill>
                <a:latin typeface="Aptos"/>
                <a:ea typeface="Aptos"/>
                <a:cs typeface="Aptos"/>
                <a:sym typeface="Aptos"/>
              </a:rPr>
              <a:t>What you built and how it works</a:t>
            </a:r>
          </a:p>
          <a:p>
            <a:pPr algn="l">
              <a:lnSpc>
                <a:spcPts val="4536"/>
              </a:lnSpc>
            </a:pPr>
            <a:endParaRPr lang="en-US" sz="4200">
              <a:solidFill>
                <a:srgbClr val="D1D1D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6" name="AutoShape 6"/>
          <p:cNvSpPr/>
          <p:nvPr/>
        </p:nvSpPr>
        <p:spPr>
          <a:xfrm rot="6300">
            <a:off x="997439" y="1399461"/>
            <a:ext cx="16291484" cy="0"/>
          </a:xfrm>
          <a:prstGeom prst="line">
            <a:avLst/>
          </a:prstGeom>
          <a:ln w="19050" cap="rnd">
            <a:solidFill>
              <a:srgbClr val="D91C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6297462" y="399672"/>
            <a:ext cx="1381988" cy="795437"/>
          </a:xfrm>
          <a:custGeom>
            <a:avLst/>
            <a:gdLst/>
            <a:ahLst/>
            <a:cxnLst/>
            <a:rect l="l" t="t" r="r" b="b"/>
            <a:pathLst>
              <a:path w="1381988" h="795437">
                <a:moveTo>
                  <a:pt x="0" y="0"/>
                </a:moveTo>
                <a:lnTo>
                  <a:pt x="1381989" y="0"/>
                </a:lnTo>
                <a:lnTo>
                  <a:pt x="1381989" y="795437"/>
                </a:lnTo>
                <a:lnTo>
                  <a:pt x="0" y="795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0813" y="1690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Prototype (2)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12253" y="3974783"/>
            <a:ext cx="15590520" cy="638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D1D1D1"/>
                </a:solidFill>
                <a:latin typeface="Aptos"/>
                <a:ea typeface="Aptos"/>
                <a:cs typeface="Aptos"/>
                <a:sym typeface="Aptos"/>
              </a:rPr>
              <a:t>What you built and how it works</a:t>
            </a:r>
          </a:p>
        </p:txBody>
      </p:sp>
      <p:sp>
        <p:nvSpPr>
          <p:cNvPr id="6" name="AutoShape 6"/>
          <p:cNvSpPr/>
          <p:nvPr/>
        </p:nvSpPr>
        <p:spPr>
          <a:xfrm rot="6300">
            <a:off x="997439" y="1399461"/>
            <a:ext cx="16291484" cy="0"/>
          </a:xfrm>
          <a:prstGeom prst="line">
            <a:avLst/>
          </a:prstGeom>
          <a:ln w="19050" cap="rnd">
            <a:solidFill>
              <a:srgbClr val="D91C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6297462" y="399672"/>
            <a:ext cx="1381988" cy="795437"/>
          </a:xfrm>
          <a:custGeom>
            <a:avLst/>
            <a:gdLst/>
            <a:ahLst/>
            <a:cxnLst/>
            <a:rect l="l" t="t" r="r" b="b"/>
            <a:pathLst>
              <a:path w="1381988" h="795437">
                <a:moveTo>
                  <a:pt x="0" y="0"/>
                </a:moveTo>
                <a:lnTo>
                  <a:pt x="1381989" y="0"/>
                </a:lnTo>
                <a:lnTo>
                  <a:pt x="1381989" y="795437"/>
                </a:lnTo>
                <a:lnTo>
                  <a:pt x="0" y="795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641" y="1672257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Appendix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09081" y="3956352"/>
            <a:ext cx="15590520" cy="638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D1D1D1"/>
                </a:solidFill>
                <a:latin typeface="Aptos Bold"/>
                <a:ea typeface="Aptos Bold"/>
                <a:cs typeface="Aptos Bold"/>
                <a:sym typeface="Aptos Bold"/>
              </a:rPr>
              <a:t>diagrams, calculations, or any other details</a:t>
            </a:r>
          </a:p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D1D1D1"/>
                </a:solidFill>
                <a:latin typeface="Aptos"/>
                <a:ea typeface="Aptos"/>
                <a:cs typeface="Aptos"/>
                <a:sym typeface="Aptos"/>
              </a:rPr>
              <a:t>Note: Align your inputs with the judging criteria</a:t>
            </a:r>
          </a:p>
          <a:p>
            <a:pPr algn="l">
              <a:lnSpc>
                <a:spcPts val="4536"/>
              </a:lnSpc>
            </a:pPr>
            <a:endParaRPr lang="en-US" sz="4200">
              <a:solidFill>
                <a:srgbClr val="D1D1D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6" name="AutoShape 6"/>
          <p:cNvSpPr/>
          <p:nvPr/>
        </p:nvSpPr>
        <p:spPr>
          <a:xfrm rot="6300">
            <a:off x="997439" y="1399461"/>
            <a:ext cx="16291484" cy="0"/>
          </a:xfrm>
          <a:prstGeom prst="line">
            <a:avLst/>
          </a:prstGeom>
          <a:ln w="19050" cap="rnd">
            <a:solidFill>
              <a:srgbClr val="D91C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6297462" y="399672"/>
            <a:ext cx="1381988" cy="795437"/>
          </a:xfrm>
          <a:custGeom>
            <a:avLst/>
            <a:gdLst/>
            <a:ahLst/>
            <a:cxnLst/>
            <a:rect l="l" t="t" r="r" b="b"/>
            <a:pathLst>
              <a:path w="1381988" h="795437">
                <a:moveTo>
                  <a:pt x="0" y="0"/>
                </a:moveTo>
                <a:lnTo>
                  <a:pt x="1381989" y="0"/>
                </a:lnTo>
                <a:lnTo>
                  <a:pt x="1381989" y="795437"/>
                </a:lnTo>
                <a:lnTo>
                  <a:pt x="0" y="795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641" y="1672257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Appendix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09081" y="3956352"/>
            <a:ext cx="15590520" cy="638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1">
                <a:solidFill>
                  <a:srgbClr val="D1D1D1"/>
                </a:solidFill>
                <a:latin typeface="Aptos Bold"/>
                <a:ea typeface="Aptos Bold"/>
                <a:cs typeface="Aptos Bold"/>
                <a:sym typeface="Aptos Bold"/>
              </a:rPr>
              <a:t>diagrams, calculations, or any other details</a:t>
            </a:r>
          </a:p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D1D1D1"/>
                </a:solidFill>
                <a:latin typeface="Aptos"/>
                <a:ea typeface="Aptos"/>
                <a:cs typeface="Aptos"/>
                <a:sym typeface="Aptos"/>
              </a:rPr>
              <a:t>Note: Align your inputs with the judging criteria</a:t>
            </a:r>
          </a:p>
          <a:p>
            <a:pPr algn="l">
              <a:lnSpc>
                <a:spcPts val="4536"/>
              </a:lnSpc>
            </a:pPr>
            <a:endParaRPr lang="en-US" sz="4200">
              <a:solidFill>
                <a:srgbClr val="D1D1D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6" name="AutoShape 6"/>
          <p:cNvSpPr/>
          <p:nvPr/>
        </p:nvSpPr>
        <p:spPr>
          <a:xfrm rot="6300">
            <a:off x="997439" y="1399461"/>
            <a:ext cx="16291484" cy="0"/>
          </a:xfrm>
          <a:prstGeom prst="line">
            <a:avLst/>
          </a:prstGeom>
          <a:ln w="19050" cap="rnd">
            <a:solidFill>
              <a:srgbClr val="D91C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6297462" y="399672"/>
            <a:ext cx="1381988" cy="795437"/>
          </a:xfrm>
          <a:custGeom>
            <a:avLst/>
            <a:gdLst/>
            <a:ahLst/>
            <a:cxnLst/>
            <a:rect l="l" t="t" r="r" b="b"/>
            <a:pathLst>
              <a:path w="1381988" h="795437">
                <a:moveTo>
                  <a:pt x="0" y="0"/>
                </a:moveTo>
                <a:lnTo>
                  <a:pt x="1381989" y="0"/>
                </a:lnTo>
                <a:lnTo>
                  <a:pt x="1381989" y="795437"/>
                </a:lnTo>
                <a:lnTo>
                  <a:pt x="0" y="795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5BB13244AD3B449CF82ECB28D23159" ma:contentTypeVersion="16" ma:contentTypeDescription="Create a new document." ma:contentTypeScope="" ma:versionID="4e77e9fd6cd31c4c62b9f4468cda02d3">
  <xsd:schema xmlns:xsd="http://www.w3.org/2001/XMLSchema" xmlns:xs="http://www.w3.org/2001/XMLSchema" xmlns:p="http://schemas.microsoft.com/office/2006/metadata/properties" xmlns:ns2="09421171-64f2-43ff-a6a1-9e1a88cca22b" xmlns:ns3="5d95186c-bb64-4be0-a38e-4980c96d6b0b" targetNamespace="http://schemas.microsoft.com/office/2006/metadata/properties" ma:root="true" ma:fieldsID="60f92c090514e012c4b70151d9f3f790" ns2:_="" ns3:_="">
    <xsd:import namespace="09421171-64f2-43ff-a6a1-9e1a88cca22b"/>
    <xsd:import namespace="5d95186c-bb64-4be0-a38e-4980c96d6b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21171-64f2-43ff-a6a1-9e1a88cca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921d02d-b337-4ce5-bd1c-22d9132a6b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5186c-bb64-4be0-a38e-4980c96d6b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558800d-8c79-49a2-9581-32a5fbe6b6ca}" ma:internalName="TaxCatchAll" ma:showField="CatchAllData" ma:web="5d95186c-bb64-4be0-a38e-4980c96d6b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421171-64f2-43ff-a6a1-9e1a88cca22b">
      <Terms xmlns="http://schemas.microsoft.com/office/infopath/2007/PartnerControls"/>
    </lcf76f155ced4ddcb4097134ff3c332f>
    <TaxCatchAll xmlns="5d95186c-bb64-4be0-a38e-4980c96d6b0b" xsi:nil="true"/>
  </documentManagement>
</p:properties>
</file>

<file path=customXml/itemProps1.xml><?xml version="1.0" encoding="utf-8"?>
<ds:datastoreItem xmlns:ds="http://schemas.openxmlformats.org/officeDocument/2006/customXml" ds:itemID="{CE9F0805-2CE4-47ED-A215-AAA8EDA219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421171-64f2-43ff-a6a1-9e1a88cca22b"/>
    <ds:schemaRef ds:uri="5d95186c-bb64-4be0-a38e-4980c96d6b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12BCB1-D05C-41AF-A8B0-0EF96084E2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0D7B7D-BDCF-49CD-8B19-603B5EA81CB1}">
  <ds:schemaRefs>
    <ds:schemaRef ds:uri="http://schemas.microsoft.com/office/2006/metadata/properties"/>
    <ds:schemaRef ds:uri="http://schemas.microsoft.com/office/infopath/2007/PartnerControls"/>
    <ds:schemaRef ds:uri="09421171-64f2-43ff-a6a1-9e1a88cca22b"/>
    <ds:schemaRef ds:uri="5d95186c-bb64-4be0-a38e-4980c96d6b0b"/>
  </ds:schemaRefs>
</ds:datastoreItem>
</file>

<file path=docMetadata/LabelInfo.xml><?xml version="1.0" encoding="utf-8"?>
<clbl:labelList xmlns:clbl="http://schemas.microsoft.com/office/2020/mipLabelMetadata">
  <clbl:label id="{ddaa77bc-0157-46a4-82a6-8fc765694bc9}" enabled="1" method="Standard" siteId="{d1323671-cdbe-4417-b4d4-bdb24b51316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Submission Template</dc:title>
  <cp:revision>12</cp:revision>
  <dcterms:created xsi:type="dcterms:W3CDTF">2006-08-16T00:00:00Z</dcterms:created>
  <dcterms:modified xsi:type="dcterms:W3CDTF">2026-09-17T07:42:37Z</dcterms:modified>
  <dc:identifier>DAHQumVFVVg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0x0101007C5BB13244AD3B449CF82ECB28D23159</vt:lpwstr>
  </property>
  <property fmtid="{D5CDD505-2E9C-101B-9397-08002B2CF9AE}" pid="3" name="MediaServiceImageTags">
    <vt:lpwstr/>
  </property>
</Properties>
</file>